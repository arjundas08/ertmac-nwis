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4114800"/>
          </a:xfrm>
          <a:prstGeom prst="rect">
            <a:avLst/>
          </a:prstGeom>
          <a:noFill/>
        </p:spPr>
        <p:txBody>
          <a:bodyPr wrap="square">
            <a:spAutoFit/>
          </a:bodyPr>
          <a:lstStyle/>
          <a:p>
            <a:pPr>
              <a:spcAft>
                <a:spcPts val="1400"/>
              </a:spcAft>
              <a:defRPr sz="1300" b="1">
                <a:solidFill>
                  <a:srgbClr val="F59E0B"/>
                </a:solidFill>
              </a:defRPr>
            </a:pPr>
            <a:r>
              <a:t>SMART INDIA HACKATHON 2026 | PROBLEM STATEMENT SIH26121</a:t>
            </a:r>
          </a:p>
          <a:p>
            <a:pPr>
              <a:spcAft>
                <a:spcPts val="1000"/>
              </a:spcAft>
              <a:defRPr sz="3200" b="1">
                <a:solidFill>
                  <a:srgbClr val="F9FAFB"/>
                </a:solidFill>
              </a:defRPr>
            </a:pPr>
            <a:r>
              <a:t>eRTMAC-NWIS: Empirical Offset-Well Intelligence</a:t>
            </a:r>
          </a:p>
          <a:p>
            <a:pPr>
              <a:spcAft>
                <a:spcPts val="2800"/>
              </a:spcAft>
              <a:defRPr sz="1600">
                <a:solidFill>
                  <a:srgbClr val="06B6D4"/>
                </a:solidFill>
              </a:defRPr>
            </a:pPr>
            <a:r>
              <a:t>Transforming Oil India's 100,000+ Scanned Pages into a Stratigraphically Correlated, Back-Tested Decision Support Platform</a:t>
            </a:r>
          </a:p>
          <a:p>
            <a:pPr>
              <a:defRPr sz="1300">
                <a:solidFill>
                  <a:srgbClr val="9CA3AF"/>
                </a:solidFill>
              </a:defRPr>
            </a:pPr>
            <a:r>
              <a:t>• Core Innovation: Stratigraphic TVDSS Depth-Normalization &amp; Look-Ahead Horizon Radar (50-100m)</a:t>
            </a:r>
            <a:br/>
            <a:r>
              <a:t>• Zero Fake Data: Fully Back-Tested on 1,759 Real Equinor Volve Daily Drilling Reports</a:t>
            </a:r>
            <a:br/>
            <a:r>
              <a:t>• Evidence-or-Silence Invariant: All advisories cite historical well, DDR date, page number, and depth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274320"/>
          </a:xfrm>
          <a:prstGeom prst="rect">
            <a:avLst/>
          </a:prstGeom>
          <a:noFill/>
        </p:spPr>
        <p:txBody>
          <a:bodyPr wrap="square">
            <a:spAutoFit/>
          </a:bodyPr>
          <a:lstStyle/>
          <a:p>
            <a:pPr>
              <a:defRPr sz="1000" b="1">
                <a:solidFill>
                  <a:srgbClr val="F59E0B"/>
                </a:solidFill>
              </a:defRPr>
            </a:pPr>
            <a:r>
              <a:t>SIH26121 | OIL INDIA LIMITED | ERTMAC-NWIS</a:t>
            </a:r>
          </a:p>
        </p:txBody>
      </p:sp>
      <p:sp>
        <p:nvSpPr>
          <p:cNvPr id="4" name="TextBox 3"/>
          <p:cNvSpPr txBox="1"/>
          <p:nvPr/>
        </p:nvSpPr>
        <p:spPr>
          <a:xfrm>
            <a:off x="731520" y="640080"/>
            <a:ext cx="10515600" cy="731520"/>
          </a:xfrm>
          <a:prstGeom prst="rect">
            <a:avLst/>
          </a:prstGeom>
          <a:noFill/>
        </p:spPr>
        <p:txBody>
          <a:bodyPr wrap="square">
            <a:spAutoFit/>
          </a:bodyPr>
          <a:lstStyle/>
          <a:p>
            <a:pPr>
              <a:defRPr sz="2200" b="1">
                <a:solidFill>
                  <a:srgbClr val="F9FAFB"/>
                </a:solidFill>
              </a:defRPr>
            </a:pPr>
            <a:r>
              <a:t>The Core Problem: The Measured Depth Trap Across Dipping Formations</a:t>
            </a:r>
          </a:p>
        </p:txBody>
      </p:sp>
      <p:sp>
        <p:nvSpPr>
          <p:cNvPr id="5" name="TextBox 4"/>
          <p:cNvSpPr txBox="1"/>
          <p:nvPr/>
        </p:nvSpPr>
        <p:spPr>
          <a:xfrm>
            <a:off x="731520" y="1645920"/>
            <a:ext cx="10698480" cy="4572000"/>
          </a:xfrm>
          <a:prstGeom prst="rect">
            <a:avLst/>
          </a:prstGeom>
          <a:noFill/>
        </p:spPr>
        <p:txBody>
          <a:bodyPr wrap="square">
            <a:spAutoFit/>
          </a:bodyPr>
          <a:lstStyle/>
          <a:p>
            <a:pPr>
              <a:spcAft>
                <a:spcPts val="1200"/>
              </a:spcAft>
              <a:defRPr sz="1600" b="1">
                <a:solidFill>
                  <a:srgbClr val="F59E0B"/>
                </a:solidFill>
              </a:defRPr>
            </a:pPr>
            <a:r>
              <a:t>Why Most Drilling Decision Systems Fail in Complex Basins:</a:t>
            </a:r>
          </a:p>
          <a:p>
            <a:pPr>
              <a:spcAft>
                <a:spcPts val="1400"/>
              </a:spcAft>
              <a:defRPr b="1" sz="1300">
                <a:solidFill>
                  <a:srgbClr val="F9FAFB"/>
                </a:solidFill>
              </a:defRPr>
            </a:pPr>
            <a:r>
              <a:t>• The Depth Trap: </a:t>
            </a:r>
            <a:r>
              <a:rPr b="0">
                <a:solidFill>
                  <a:srgbClr val="9CA3AF"/>
                </a:solidFill>
              </a:rPr>
              <a:t>In structurally complex dipping beds (Upper Assam / North Sea), Measured Depth (MD) is deceptive. 2,500m MD in Well A is not 2,500m MD in Well B. Correlating by raw depth triggers catastrophic false alarms or misses real blowout/loss zones.</a:t>
            </a:r>
          </a:p>
          <a:p>
            <a:pPr>
              <a:spcAft>
                <a:spcPts val="1400"/>
              </a:spcAft>
              <a:defRPr b="1" sz="1300">
                <a:solidFill>
                  <a:srgbClr val="F9FAFB"/>
                </a:solidFill>
              </a:defRPr>
            </a:pPr>
            <a:r>
              <a:t>• The 100,000-Page Document Chasm: </a:t>
            </a:r>
            <a:r>
              <a:rPr b="0">
                <a:solidFill>
                  <a:srgbClr val="9CA3AF"/>
                </a:solidFill>
              </a:rPr>
              <a:t>OIL's own tender documents confirm over 100,000 pages of technical commentaries, mud logs, and DDRs sit locked in legacy Landmark E&amp;P repositories and physical paper files. Engineers cannot manually review 50 reports while monitoring 20 telemetry screens on eRTMAC.</a:t>
            </a:r>
          </a:p>
          <a:p>
            <a:pPr>
              <a:spcAft>
                <a:spcPts val="1400"/>
              </a:spcAft>
              <a:defRPr b="1" sz="1300">
                <a:solidFill>
                  <a:srgbClr val="F9FAFB"/>
                </a:solidFill>
              </a:defRPr>
            </a:pPr>
            <a:r>
              <a:t>• The NPT Consequence: </a:t>
            </a:r>
            <a:r>
              <a:rPr b="0">
                <a:solidFill>
                  <a:srgbClr val="9CA3AF"/>
                </a:solidFill>
              </a:rPr>
              <a:t>Unplanned Non-Productive Time (NPT) costs ₹25 Lakh to ₹1 Crore+ per day. A single unrecognized high-pressure gas pocket or lost circulation interval causes multi-crore fishing and sidetracking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274320"/>
          </a:xfrm>
          <a:prstGeom prst="rect">
            <a:avLst/>
          </a:prstGeom>
          <a:noFill/>
        </p:spPr>
        <p:txBody>
          <a:bodyPr wrap="square">
            <a:spAutoFit/>
          </a:bodyPr>
          <a:lstStyle/>
          <a:p>
            <a:pPr>
              <a:defRPr sz="1000" b="1">
                <a:solidFill>
                  <a:srgbClr val="F59E0B"/>
                </a:solidFill>
              </a:defRPr>
            </a:pPr>
            <a:r>
              <a:t>SIH26121 | OIL INDIA LIMITED | ERTMAC-NWIS</a:t>
            </a:r>
          </a:p>
        </p:txBody>
      </p:sp>
      <p:sp>
        <p:nvSpPr>
          <p:cNvPr id="4" name="TextBox 3"/>
          <p:cNvSpPr txBox="1"/>
          <p:nvPr/>
        </p:nvSpPr>
        <p:spPr>
          <a:xfrm>
            <a:off x="731520" y="640080"/>
            <a:ext cx="10515600" cy="731520"/>
          </a:xfrm>
          <a:prstGeom prst="rect">
            <a:avLst/>
          </a:prstGeom>
          <a:noFill/>
        </p:spPr>
        <p:txBody>
          <a:bodyPr wrap="square">
            <a:spAutoFit/>
          </a:bodyPr>
          <a:lstStyle/>
          <a:p>
            <a:pPr>
              <a:defRPr sz="2200" b="1">
                <a:solidFill>
                  <a:srgbClr val="F9FAFB"/>
                </a:solidFill>
              </a:defRPr>
            </a:pPr>
            <a:r>
              <a:t>The Tri-System Boundary: Where NWIS Actually Fits in Oil India</a:t>
            </a:r>
          </a:p>
        </p:txBody>
      </p:sp>
      <p:sp>
        <p:nvSpPr>
          <p:cNvPr id="5" name="Rounded Rectangle 4"/>
          <p:cNvSpPr/>
          <p:nvPr/>
        </p:nvSpPr>
        <p:spPr>
          <a:xfrm>
            <a:off x="731520" y="1645920"/>
            <a:ext cx="3383280" cy="4389120"/>
          </a:xfrm>
          <a:prstGeom prst="roundRect">
            <a:avLst/>
          </a:prstGeom>
          <a:solidFill>
            <a:srgbClr val="1F293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800">
                <a:solidFill>
                  <a:srgbClr val="10B981"/>
                </a:solidFill>
              </a:defRPr>
            </a:pPr>
            <a:r>
              <a:t>eRTMAC</a:t>
            </a:r>
          </a:p>
          <a:p>
            <a:pPr>
              <a:spcAft>
                <a:spcPts val="1200"/>
              </a:spcAft>
              <a:defRPr sz="1100">
                <a:solidFill>
                  <a:srgbClr val="F9FAFB"/>
                </a:solidFill>
              </a:defRPr>
            </a:pPr>
            <a:r>
              <a:t>The Nervous System (Now)</a:t>
            </a:r>
          </a:p>
          <a:p>
            <a:pPr>
              <a:defRPr sz="1100">
                <a:solidFill>
                  <a:srgbClr val="9CA3AF"/>
                </a:solidFill>
              </a:defRPr>
            </a:pPr>
            <a:r>
              <a:t>• 24/7 Real-Time Rig Command Center</a:t>
            </a:r>
            <a:br/>
            <a:r>
              <a:t>• Streams live WITSML telemetry</a:t>
            </a:r>
            <a:br/>
            <a:r>
              <a:t>• ROP, WOB, Torque, SPP, Flow, Pits</a:t>
            </a:r>
            <a:br/>
            <a:r>
              <a:t>• Monitors live rig-state anomalies</a:t>
            </a:r>
            <a:br/>
            <a:r>
              <a:t>• Answers: 'What is happening right now?'</a:t>
            </a:r>
          </a:p>
        </p:txBody>
      </p:sp>
      <p:sp>
        <p:nvSpPr>
          <p:cNvPr id="6" name="Rounded Rectangle 5"/>
          <p:cNvSpPr/>
          <p:nvPr/>
        </p:nvSpPr>
        <p:spPr>
          <a:xfrm>
            <a:off x="4389120" y="1645920"/>
            <a:ext cx="3383280" cy="4389120"/>
          </a:xfrm>
          <a:prstGeom prst="roundRect">
            <a:avLst/>
          </a:prstGeom>
          <a:solidFill>
            <a:srgbClr val="1F2937"/>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800">
                <a:solidFill>
                  <a:srgbClr val="06B6D4"/>
                </a:solidFill>
              </a:defRPr>
            </a:pPr>
            <a:r>
              <a:t>OIL E&amp;P Databank</a:t>
            </a:r>
          </a:p>
          <a:p>
            <a:pPr>
              <a:spcAft>
                <a:spcPts val="1200"/>
              </a:spcAft>
              <a:defRPr sz="1100">
                <a:solidFill>
                  <a:srgbClr val="F9FAFB"/>
                </a:solidFill>
              </a:defRPr>
            </a:pPr>
            <a:r>
              <a:t>The Deep Archive (Past)</a:t>
            </a:r>
          </a:p>
          <a:p>
            <a:pPr>
              <a:defRPr sz="1100">
                <a:solidFill>
                  <a:srgbClr val="9CA3AF"/>
                </a:solidFill>
              </a:defRPr>
            </a:pPr>
            <a:r>
              <a:t>• Landmark E&amp;P master repository</a:t>
            </a:r>
            <a:br/>
            <a:r>
              <a:t>• Archives 100,000+ scanned pages</a:t>
            </a:r>
            <a:br/>
            <a:r>
              <a:t>• Stores static LAS/DLIS logs &amp; surveys</a:t>
            </a:r>
            <a:br/>
            <a:r>
              <a:t>• Compliance &amp; long-term records</a:t>
            </a:r>
            <a:br/>
            <a:r>
              <a:t>• Answers: 'Where is the archive for Well X?'</a:t>
            </a:r>
          </a:p>
        </p:txBody>
      </p:sp>
      <p:sp>
        <p:nvSpPr>
          <p:cNvPr id="7" name="Rounded Rectangle 6"/>
          <p:cNvSpPr/>
          <p:nvPr/>
        </p:nvSpPr>
        <p:spPr>
          <a:xfrm>
            <a:off x="8046720" y="1645920"/>
            <a:ext cx="3383280" cy="4389120"/>
          </a:xfrm>
          <a:prstGeom prst="roundRect">
            <a:avLst/>
          </a:prstGeom>
          <a:solidFill>
            <a:srgbClr val="1F293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b="1" sz="1800">
                <a:solidFill>
                  <a:srgbClr val="F59E0B"/>
                </a:solidFill>
              </a:defRPr>
            </a:pPr>
            <a:r>
              <a:t>eRTMAC-NWIS</a:t>
            </a:r>
          </a:p>
          <a:p>
            <a:pPr>
              <a:spcAft>
                <a:spcPts val="1200"/>
              </a:spcAft>
              <a:defRPr sz="1100">
                <a:solidFill>
                  <a:srgbClr val="F9FAFB"/>
                </a:solidFill>
              </a:defRPr>
            </a:pPr>
            <a:r>
              <a:t>The Executive Brain (Why &amp; What Next)</a:t>
            </a:r>
          </a:p>
          <a:p>
            <a:pPr>
              <a:defRPr sz="1100">
                <a:solidFill>
                  <a:srgbClr val="9CA3AF"/>
                </a:solidFill>
              </a:defRPr>
            </a:pPr>
            <a:r>
              <a:t>• Cognitive Bridge &amp; Look-Ahead Radar</a:t>
            </a:r>
            <a:br/>
            <a:r>
              <a:t>• Stratigraphic TVDSS alignment across dip</a:t>
            </a:r>
            <a:br/>
            <a:r>
              <a:t>• Explainable offset similarity ranking</a:t>
            </a:r>
            <a:br/>
            <a:r>
              <a:t>• Pre-bit look-ahead alerts (50-100m)</a:t>
            </a:r>
            <a:br/>
            <a:r>
              <a:t>• Answers: 'What happened in offset wells &amp; what should we 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274320"/>
          </a:xfrm>
          <a:prstGeom prst="rect">
            <a:avLst/>
          </a:prstGeom>
          <a:noFill/>
        </p:spPr>
        <p:txBody>
          <a:bodyPr wrap="square">
            <a:spAutoFit/>
          </a:bodyPr>
          <a:lstStyle/>
          <a:p>
            <a:pPr>
              <a:defRPr sz="1000" b="1">
                <a:solidFill>
                  <a:srgbClr val="F59E0B"/>
                </a:solidFill>
              </a:defRPr>
            </a:pPr>
            <a:r>
              <a:t>SIH26121 | OIL INDIA LIMITED | ERTMAC-NWIS</a:t>
            </a:r>
          </a:p>
        </p:txBody>
      </p:sp>
      <p:sp>
        <p:nvSpPr>
          <p:cNvPr id="4" name="TextBox 3"/>
          <p:cNvSpPr txBox="1"/>
          <p:nvPr/>
        </p:nvSpPr>
        <p:spPr>
          <a:xfrm>
            <a:off x="731520" y="640080"/>
            <a:ext cx="10515600" cy="731520"/>
          </a:xfrm>
          <a:prstGeom prst="rect">
            <a:avLst/>
          </a:prstGeom>
          <a:noFill/>
        </p:spPr>
        <p:txBody>
          <a:bodyPr wrap="square">
            <a:spAutoFit/>
          </a:bodyPr>
          <a:lstStyle/>
          <a:p>
            <a:pPr>
              <a:defRPr sz="2200" b="1">
                <a:solidFill>
                  <a:srgbClr val="F9FAFB"/>
                </a:solidFill>
              </a:defRPr>
            </a:pPr>
            <a:r>
              <a:t>Empirical Validation: Measured Leave-One-Well-Out (LOWO) Back-Test</a:t>
            </a:r>
          </a:p>
        </p:txBody>
      </p:sp>
      <p:sp>
        <p:nvSpPr>
          <p:cNvPr id="5" name="Rounded Rectangle 4"/>
          <p:cNvSpPr/>
          <p:nvPr/>
        </p:nvSpPr>
        <p:spPr>
          <a:xfrm>
            <a:off x="731520" y="1645920"/>
            <a:ext cx="2468880" cy="1463040"/>
          </a:xfrm>
          <a:prstGeom prst="roundRect">
            <a:avLst/>
          </a:prstGeom>
          <a:solidFill>
            <a:srgbClr val="1F2937"/>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00">
                <a:solidFill>
                  <a:srgbClr val="9CA3AF"/>
                </a:solidFill>
              </a:defRPr>
            </a:pPr>
            <a:r>
              <a:t>TARGET WELL</a:t>
            </a:r>
          </a:p>
          <a:p>
            <a:pPr>
              <a:spcAft>
                <a:spcPts val="200"/>
              </a:spcAft>
              <a:defRPr sz="1800" b="1">
                <a:solidFill>
                  <a:srgbClr val="06B6D4"/>
                </a:solidFill>
              </a:defRPr>
            </a:pPr>
            <a:r>
              <a:t>NO-15/9-F-12</a:t>
            </a:r>
          </a:p>
          <a:p>
            <a:pPr>
              <a:defRPr sz="900">
                <a:solidFill>
                  <a:srgbClr val="F9FAFB"/>
                </a:solidFill>
              </a:defRPr>
            </a:pPr>
            <a:r>
              <a:t>Held out from system memory</a:t>
            </a:r>
          </a:p>
        </p:txBody>
      </p:sp>
      <p:sp>
        <p:nvSpPr>
          <p:cNvPr id="6" name="Rounded Rectangle 5"/>
          <p:cNvSpPr/>
          <p:nvPr/>
        </p:nvSpPr>
        <p:spPr>
          <a:xfrm>
            <a:off x="3474720" y="1645920"/>
            <a:ext cx="2468880" cy="1463040"/>
          </a:xfrm>
          <a:prstGeom prst="roundRect">
            <a:avLst/>
          </a:prstGeom>
          <a:solidFill>
            <a:srgbClr val="1F293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00">
                <a:solidFill>
                  <a:srgbClr val="9CA3AF"/>
                </a:solidFill>
              </a:defRPr>
            </a:pPr>
            <a:r>
              <a:t>SENSITIVITY / RECALL</a:t>
            </a:r>
          </a:p>
          <a:p>
            <a:pPr>
              <a:spcAft>
                <a:spcPts val="200"/>
              </a:spcAft>
              <a:defRPr sz="1800" b="1">
                <a:solidFill>
                  <a:srgbClr val="10B981"/>
                </a:solidFill>
              </a:defRPr>
            </a:pPr>
            <a:r>
              <a:t>66.7%</a:t>
            </a:r>
          </a:p>
          <a:p>
            <a:pPr>
              <a:defRPr sz="900">
                <a:solidFill>
                  <a:srgbClr val="F9FAFB"/>
                </a:solidFill>
              </a:defRPr>
            </a:pPr>
            <a:r>
              <a:t>2 of 3 real incidents flagged ahead</a:t>
            </a:r>
          </a:p>
        </p:txBody>
      </p:sp>
      <p:sp>
        <p:nvSpPr>
          <p:cNvPr id="7" name="Rounded Rectangle 6"/>
          <p:cNvSpPr/>
          <p:nvPr/>
        </p:nvSpPr>
        <p:spPr>
          <a:xfrm>
            <a:off x="6217920" y="1645920"/>
            <a:ext cx="2468880" cy="1463040"/>
          </a:xfrm>
          <a:prstGeom prst="roundRect">
            <a:avLst/>
          </a:prstGeom>
          <a:solidFill>
            <a:srgbClr val="1F293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00">
                <a:solidFill>
                  <a:srgbClr val="9CA3AF"/>
                </a:solidFill>
              </a:defRPr>
            </a:pPr>
            <a:r>
              <a:t>ADVANCE WARNING LEAD</a:t>
            </a:r>
          </a:p>
          <a:p>
            <a:pPr>
              <a:spcAft>
                <a:spcPts val="200"/>
              </a:spcAft>
              <a:defRPr sz="1800" b="1">
                <a:solidFill>
                  <a:srgbClr val="F59E0B"/>
                </a:solidFill>
              </a:defRPr>
            </a:pPr>
            <a:r>
              <a:t>45.1 meters</a:t>
            </a:r>
          </a:p>
          <a:p>
            <a:pPr>
              <a:defRPr sz="900">
                <a:solidFill>
                  <a:srgbClr val="F9FAFB"/>
                </a:solidFill>
              </a:defRPr>
            </a:pPr>
            <a:r>
              <a:t>~3.0 hours before drill bit arrival</a:t>
            </a:r>
          </a:p>
        </p:txBody>
      </p:sp>
      <p:sp>
        <p:nvSpPr>
          <p:cNvPr id="8" name="Rounded Rectangle 7"/>
          <p:cNvSpPr/>
          <p:nvPr/>
        </p:nvSpPr>
        <p:spPr>
          <a:xfrm>
            <a:off x="8961120" y="1645920"/>
            <a:ext cx="2468880" cy="1463040"/>
          </a:xfrm>
          <a:prstGeom prst="roundRect">
            <a:avLst/>
          </a:prstGeom>
          <a:solidFill>
            <a:srgbClr val="1F293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900">
                <a:solidFill>
                  <a:srgbClr val="9CA3AF"/>
                </a:solidFill>
              </a:defRPr>
            </a:pPr>
            <a:r>
              <a:t>UNPRECEDENTED MISSES</a:t>
            </a:r>
          </a:p>
          <a:p>
            <a:pPr>
              <a:spcAft>
                <a:spcPts val="200"/>
              </a:spcAft>
              <a:defRPr sz="1800" b="1">
                <a:solidFill>
                  <a:srgbClr val="F59E0B"/>
                </a:solidFill>
              </a:defRPr>
            </a:pPr>
            <a:r>
              <a:t>1 Incident</a:t>
            </a:r>
          </a:p>
          <a:p>
            <a:pPr>
              <a:defRPr sz="900">
                <a:solidFill>
                  <a:srgbClr val="F9FAFB"/>
                </a:solidFill>
              </a:defRPr>
            </a:pPr>
            <a:r>
              <a:t>Honest reporting (zero offset precedent)</a:t>
            </a:r>
          </a:p>
        </p:txBody>
      </p:sp>
      <p:sp>
        <p:nvSpPr>
          <p:cNvPr id="9" name="Rounded Rectangle 8"/>
          <p:cNvSpPr/>
          <p:nvPr/>
        </p:nvSpPr>
        <p:spPr>
          <a:xfrm>
            <a:off x="731520" y="3383280"/>
            <a:ext cx="10698480" cy="2834640"/>
          </a:xfrm>
          <a:prstGeom prst="roundRect">
            <a:avLst/>
          </a:prstGeom>
          <a:solidFill>
            <a:srgbClr val="1F2937"/>
          </a:solidFill>
          <a:ln>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200">
                <a:solidFill>
                  <a:srgbClr val="F59E0B"/>
                </a:solidFill>
              </a:defRPr>
            </a:pPr>
            <a:r>
              <a:t>EVENT-BY-EVENT VALIDATION TRACE ON REAL HISTORICAL DDRs:</a:t>
            </a:r>
          </a:p>
          <a:p>
            <a:pPr>
              <a:spcAft>
                <a:spcPts val="600"/>
              </a:spcAft>
              <a:defRPr sz="1100">
                <a:solidFill>
                  <a:srgbClr val="F9FAFB"/>
                </a:solidFill>
              </a:defRPr>
            </a:pPr>
            <a:r>
              <a:t>✓ 1. LOST CIRCULATION at 2860m TVDSS (Hugin FM): PREDICTED 52m in advance based on offset Well F-14 (loss at 2868m TVDSS) and F-15S (loss at 2862m TVDSS). Citation: Volve DDR Report 2008-05-18, Page 2.</a:t>
            </a:r>
          </a:p>
          <a:p>
            <a:pPr>
              <a:spcAft>
                <a:spcPts val="600"/>
              </a:spcAft>
              <a:defRPr sz="1100">
                <a:solidFill>
                  <a:srgbClr val="F9FAFB"/>
                </a:solidFill>
              </a:defRPr>
            </a:pPr>
            <a:r>
              <a:t>✓ 2. PACK-OFF at 3078m TVDSS (Skagerrak FM): PREDICTED 38m in advance based on offset Well F-15S (pack-off at 3075m TVDSS) and F-14 (pack-off at 3090m TVDSS). Citation: Volve DDR Report 2008-06-04, Page 3.</a:t>
            </a:r>
          </a:p>
          <a:p>
            <a:pPr>
              <a:spcAft>
                <a:spcPts val="600"/>
              </a:spcAft>
              <a:defRPr sz="1100">
                <a:solidFill>
                  <a:srgbClr val="F9FAFB"/>
                </a:solidFill>
              </a:defRPr>
            </a:pPr>
            <a:r>
              <a:t>✗ 3. TIGHT HOLE at 3340m TVDSS (Smith Bank FM): UNPRECEDENTED MISS. Neither F-14 nor F-15S encountered issues in Smith Bank. The system maintained the Evidence-or-Silence contract and reported no precedent rather than hallucinating fake advice.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274320"/>
          </a:xfrm>
          <a:prstGeom prst="rect">
            <a:avLst/>
          </a:prstGeom>
          <a:noFill/>
        </p:spPr>
        <p:txBody>
          <a:bodyPr wrap="square">
            <a:spAutoFit/>
          </a:bodyPr>
          <a:lstStyle/>
          <a:p>
            <a:pPr>
              <a:defRPr sz="1000" b="1">
                <a:solidFill>
                  <a:srgbClr val="F59E0B"/>
                </a:solidFill>
              </a:defRPr>
            </a:pPr>
            <a:r>
              <a:t>SIH26121 | OIL INDIA LIMITED | ERTMAC-NWIS</a:t>
            </a:r>
          </a:p>
        </p:txBody>
      </p:sp>
      <p:sp>
        <p:nvSpPr>
          <p:cNvPr id="4" name="TextBox 3"/>
          <p:cNvSpPr txBox="1"/>
          <p:nvPr/>
        </p:nvSpPr>
        <p:spPr>
          <a:xfrm>
            <a:off x="731520" y="640080"/>
            <a:ext cx="10515600" cy="731520"/>
          </a:xfrm>
          <a:prstGeom prst="rect">
            <a:avLst/>
          </a:prstGeom>
          <a:noFill/>
        </p:spPr>
        <p:txBody>
          <a:bodyPr wrap="square">
            <a:spAutoFit/>
          </a:bodyPr>
          <a:lstStyle/>
          <a:p>
            <a:pPr>
              <a:defRPr sz="2200" b="1">
                <a:solidFill>
                  <a:srgbClr val="F9FAFB"/>
                </a:solidFill>
              </a:defRPr>
            </a:pPr>
            <a:r>
              <a:t>Judge Attack Defense: Tough Questions &amp; Empirical Answers</a:t>
            </a:r>
          </a:p>
        </p:txBody>
      </p:sp>
      <p:sp>
        <p:nvSpPr>
          <p:cNvPr id="5" name="TextBox 4"/>
          <p:cNvSpPr txBox="1"/>
          <p:nvPr/>
        </p:nvSpPr>
        <p:spPr>
          <a:xfrm>
            <a:off x="731520" y="1645920"/>
            <a:ext cx="10698480" cy="4572000"/>
          </a:xfrm>
          <a:prstGeom prst="rect">
            <a:avLst/>
          </a:prstGeom>
          <a:noFill/>
        </p:spPr>
        <p:txBody>
          <a:bodyPr wrap="square">
            <a:spAutoFit/>
          </a:bodyPr>
          <a:lstStyle/>
          <a:p/>
          <a:p>
            <a:pPr>
              <a:spcAft>
                <a:spcPts val="200"/>
              </a:spcAft>
              <a:defRPr b="1" sz="1300">
                <a:solidFill>
                  <a:srgbClr val="F59E0B"/>
                </a:solidFill>
              </a:defRPr>
            </a:pPr>
            <a:r>
              <a:t>Judge: 'Why does OIL need this if we have eRTMAC 24/7?'</a:t>
            </a:r>
          </a:p>
          <a:p>
            <a:pPr>
              <a:spcAft>
                <a:spcPts val="1200"/>
              </a:spcAft>
              <a:defRPr sz="1100">
                <a:solidFill>
                  <a:srgbClr val="F9FAFB"/>
                </a:solidFill>
              </a:defRPr>
            </a:pPr>
            <a:r>
              <a:t>Answer: eRTMAC tells you what is happening RIGHT NOW. It cannot tell the driller that 1.2 km away, an offset well experienced severe stuck pipe in the exact same formation interval. eRTMAC is the nervous system; NWIS is the corporate memory.</a:t>
            </a:r>
          </a:p>
          <a:p>
            <a:pPr>
              <a:spcAft>
                <a:spcPts val="200"/>
              </a:spcAft>
              <a:defRPr b="1" sz="1300">
                <a:solidFill>
                  <a:srgbClr val="F59E0B"/>
                </a:solidFill>
              </a:defRPr>
            </a:pPr>
            <a:r>
              <a:t>Judge: 'Measured Depth means nothing in dipping beds. How do you correlate?'</a:t>
            </a:r>
          </a:p>
          <a:p>
            <a:pPr>
              <a:spcAft>
                <a:spcPts val="1200"/>
              </a:spcAft>
              <a:defRPr sz="1100">
                <a:solidFill>
                  <a:srgbClr val="F9FAFB"/>
                </a:solidFill>
              </a:defRPr>
            </a:pPr>
            <a:r>
              <a:t>Answer: We never correlate by raw Measured Depth (MD). directional surveys are converted to True Vertical Depth Subsea (TVDSS) using API Minimum Curvature, and incidents are referenced relative to Stratigraphic Formation Marker Tops (ΔZ). Structural dip is fully compensated.</a:t>
            </a:r>
          </a:p>
          <a:p>
            <a:pPr>
              <a:spcAft>
                <a:spcPts val="200"/>
              </a:spcAft>
              <a:defRPr b="1" sz="1300">
                <a:solidFill>
                  <a:srgbClr val="F59E0B"/>
                </a:solidFill>
              </a:defRPr>
            </a:pPr>
            <a:r>
              <a:t>Judge: 'Did you invent fake data or simulate accuracy?'</a:t>
            </a:r>
          </a:p>
          <a:p>
            <a:pPr>
              <a:spcAft>
                <a:spcPts val="1200"/>
              </a:spcAft>
              <a:defRPr sz="1100">
                <a:solidFill>
                  <a:srgbClr val="F9FAFB"/>
                </a:solidFill>
              </a:defRPr>
            </a:pPr>
            <a:r>
              <a:t>Answer: Zero fabricated data. Our system is proven on the real Equinor Volve dataset (1,759 DDRs, 26 wellbores), and our Leave-One-Well-Out back-test reports actual measured recall (66.7%) and honest misses without marketing exaggeration.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